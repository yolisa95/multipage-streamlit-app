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6" r:id="rId2"/>
    <p:sldId id="257" r:id="rId3"/>
    <p:sldId id="262" r:id="rId4"/>
    <p:sldId id="263" r:id="rId5"/>
    <p:sldId id="272" r:id="rId6"/>
    <p:sldId id="258" r:id="rId7"/>
    <p:sldId id="267" r:id="rId8"/>
    <p:sldId id="273" r:id="rId9"/>
    <p:sldId id="268" r:id="rId10"/>
    <p:sldId id="269" r:id="rId11"/>
    <p:sldId id="270" r:id="rId12"/>
    <p:sldId id="27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varScale="1">
        <p:scale>
          <a:sx n="79" d="100"/>
          <a:sy n="79" d="100"/>
        </p:scale>
        <p:origin x="360" y="67"/>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10/18/2026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10/18/2026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D9D9D9"/>
            </a:gs>
            <a:gs pos="100000">
              <a:schemeClr val="bg1"/>
            </a:gs>
          </a:gsLst>
          <a:lin ang="81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828800"/>
            <a:ext cx="4098175" cy="3177380"/>
          </a:xfrm>
        </p:spPr>
        <p:txBody>
          <a:bodyPr anchor="b">
            <a:normAutofit/>
          </a:bodyPr>
          <a:lstStyle>
            <a:lvl1pPr algn="l">
              <a:lnSpc>
                <a:spcPct val="80000"/>
              </a:lnSpc>
              <a:defRPr sz="5400">
                <a:solidFill>
                  <a:schemeClr val="accent1"/>
                </a:solidFill>
              </a:defRPr>
            </a:lvl1pPr>
          </a:lstStyle>
          <a:p>
            <a:r>
              <a:rPr lang="en-US"/>
              <a:t>Click to edit Master title style</a:t>
            </a:r>
            <a:endParaRPr/>
          </a:p>
        </p:txBody>
      </p:sp>
      <p:sp>
        <p:nvSpPr>
          <p:cNvPr id="3" name="Subtitle 2"/>
          <p:cNvSpPr>
            <a:spLocks noGrp="1"/>
          </p:cNvSpPr>
          <p:nvPr>
            <p:ph type="subTitle" idx="1"/>
          </p:nvPr>
        </p:nvSpPr>
        <p:spPr>
          <a:xfrm>
            <a:off x="626225" y="5181600"/>
            <a:ext cx="4098175" cy="685800"/>
          </a:xfrm>
        </p:spPr>
        <p:txBody>
          <a:bodyPr>
            <a:normAutofit/>
          </a:bodyPr>
          <a:lstStyle>
            <a:lvl1pPr marL="0" indent="0" algn="l">
              <a:buNone/>
              <a:defRPr sz="2000" cap="all"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188688" y="-1"/>
            <a:ext cx="7000137"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10/18/2026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chemeClr val="accent1"/>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7" name="Rectangle 6" descr="Rectangle"/>
          <p:cNvSpPr/>
          <p:nvPr/>
        </p:nvSpPr>
        <p:spPr>
          <a:xfrm>
            <a:off x="265112" y="228600"/>
            <a:ext cx="1165860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66800" y="1828800"/>
            <a:ext cx="7772400" cy="3177380"/>
          </a:xfrm>
        </p:spPr>
        <p:txBody>
          <a:bodyPr anchor="b">
            <a:normAutofit/>
          </a:bodyPr>
          <a:lstStyle>
            <a:lvl1pPr>
              <a:lnSpc>
                <a:spcPct val="80000"/>
              </a:lnSpc>
              <a:defRPr sz="5400"/>
            </a:lvl1pPr>
          </a:lstStyle>
          <a:p>
            <a:r>
              <a:rPr lang="en-US"/>
              <a:t>Click to edit Master title style</a:t>
            </a:r>
            <a:endParaRPr/>
          </a:p>
        </p:txBody>
      </p:sp>
      <p:sp>
        <p:nvSpPr>
          <p:cNvPr id="3" name="Text Placeholder 2"/>
          <p:cNvSpPr>
            <a:spLocks noGrp="1"/>
          </p:cNvSpPr>
          <p:nvPr>
            <p:ph type="body" idx="1"/>
          </p:nvPr>
        </p:nvSpPr>
        <p:spPr>
          <a:xfrm>
            <a:off x="1066800" y="5181600"/>
            <a:ext cx="7772400" cy="685800"/>
          </a:xfrm>
        </p:spPr>
        <p:txBody>
          <a:bodyPr>
            <a:normAutofit/>
          </a:bodyPr>
          <a:lstStyle>
            <a:lvl1pPr marL="0" indent="0">
              <a:buNone/>
              <a:defRPr sz="2000" cap="all" baseline="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68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3246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7CC0096-1860-4642-9CD2-0079EA5E7CD1}" type="datetimeFigureOut">
              <a:rPr lang="en-US"/>
              <a:t>10/18/2026</a:t>
            </a:fld>
            <a:endParaRPr/>
          </a:p>
        </p:txBody>
      </p:sp>
      <p:sp>
        <p:nvSpPr>
          <p:cNvPr id="7" name="Slide Number Placeholder 6"/>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0668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68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3246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7CC0096-1860-4642-9CD2-0079EA5E7CD1}" type="datetimeFigureOut">
              <a:rPr lang="en-US"/>
              <a:t>10/18/2026</a:t>
            </a:fld>
            <a:endParaRPr/>
          </a:p>
        </p:txBody>
      </p:sp>
      <p:sp>
        <p:nvSpPr>
          <p:cNvPr id="9" name="Slide Number Placeholder 8"/>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7CC0096-1860-4642-9CD2-0079EA5E7CD1}" type="datetimeFigureOut">
              <a:rPr lang="en-US"/>
              <a:t>10/18/2026</a:t>
            </a:fld>
            <a:endParaRPr/>
          </a:p>
        </p:txBody>
      </p:sp>
      <p:sp>
        <p:nvSpPr>
          <p:cNvPr id="5" name="Slide Number Placeholder 4"/>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37CC0096-1860-4642-9CD2-0079EA5E7CD1}" type="datetimeFigureOut">
              <a:rPr lang="en-US"/>
              <a:t>10/18/2026</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2700" y="3200400"/>
            <a:ext cx="3932237" cy="1752600"/>
          </a:xfrm>
        </p:spPr>
        <p:txBody>
          <a:bodyPr anchor="b">
            <a:normAutofit/>
          </a:bodyPr>
          <a:lstStyle>
            <a:lvl1pPr>
              <a:defRPr sz="3600"/>
            </a:lvl1pPr>
          </a:lstStyle>
          <a:p>
            <a:r>
              <a:rPr lang="en-US"/>
              <a:t>Click to edit Master title style</a:t>
            </a:r>
            <a:endParaRPr/>
          </a:p>
        </p:txBody>
      </p:sp>
      <p:sp>
        <p:nvSpPr>
          <p:cNvPr id="3" name="Content Placeholder 2"/>
          <p:cNvSpPr>
            <a:spLocks noGrp="1"/>
          </p:cNvSpPr>
          <p:nvPr>
            <p:ph idx="1"/>
          </p:nvPr>
        </p:nvSpPr>
        <p:spPr>
          <a:xfrm>
            <a:off x="609600" y="457201"/>
            <a:ext cx="5943600"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32699" y="5029200"/>
            <a:ext cx="3932237"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5240" y="3200400"/>
            <a:ext cx="3932237" cy="1752600"/>
          </a:xfrm>
        </p:spPr>
        <p:txBody>
          <a:bodyPr anchor="b">
            <a:normAutofit/>
          </a:bodyPr>
          <a:lstStyle>
            <a:lvl1pPr>
              <a:defRPr sz="360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 y="0"/>
            <a:ext cx="7008810" cy="6857999"/>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7635240" y="5029200"/>
            <a:ext cx="3932237" cy="137464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10/18/2026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9982200" y="0"/>
            <a:ext cx="220980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058399" y="457201"/>
            <a:ext cx="2057401" cy="59436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09600" y="457200"/>
            <a:ext cx="9067800" cy="5943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10/18/2026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12188824"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066800" y="99220"/>
            <a:ext cx="10058400" cy="1325563"/>
          </a:xfrm>
          <a:prstGeom prst="rect">
            <a:avLst/>
          </a:prstGeom>
        </p:spPr>
        <p:txBody>
          <a:bodyPr vert="horz" lIns="91440" tIns="45720" rIns="9144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1524000" y="1828799"/>
            <a:ext cx="9144000" cy="4572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6800" y="6481760"/>
            <a:ext cx="7848600" cy="239715"/>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9067800" y="6465885"/>
            <a:ext cx="1066800" cy="239715"/>
          </a:xfrm>
          <a:prstGeom prst="rect">
            <a:avLst/>
          </a:prstGeom>
        </p:spPr>
        <p:txBody>
          <a:bodyPr vert="horz" lIns="91440" tIns="45720" rIns="91440" bIns="45720" rtlCol="0" anchor="ctr"/>
          <a:lstStyle>
            <a:lvl1pPr algn="r">
              <a:defRPr sz="1100">
                <a:solidFill>
                  <a:schemeClr val="tx1"/>
                </a:solidFill>
              </a:defRPr>
            </a:lvl1pPr>
          </a:lstStyle>
          <a:p>
            <a:fld id="{37CC0096-1860-4642-9CD2-0079EA5E7CD1}" type="datetimeFigureOut">
              <a:rPr lang="en-US" smtClean="0"/>
              <a:pPr/>
              <a:t>10/18/2026</a:t>
            </a:fld>
            <a:endParaRPr lang="en-US" dirty="0"/>
          </a:p>
        </p:txBody>
      </p:sp>
      <p:sp>
        <p:nvSpPr>
          <p:cNvPr id="6" name="Slide Number Placeholder 5"/>
          <p:cNvSpPr>
            <a:spLocks noGrp="1"/>
          </p:cNvSpPr>
          <p:nvPr>
            <p:ph type="sldNum" sz="quarter" idx="4"/>
          </p:nvPr>
        </p:nvSpPr>
        <p:spPr>
          <a:xfrm>
            <a:off x="10287000" y="6481760"/>
            <a:ext cx="838200" cy="239715"/>
          </a:xfrm>
          <a:prstGeom prst="rect">
            <a:avLst/>
          </a:prstGeom>
        </p:spPr>
        <p:txBody>
          <a:bodyPr vert="horz" lIns="91440" tIns="45720" rIns="91440" bIns="45720" rtlCol="0" anchor="ctr"/>
          <a:lstStyle>
            <a:lvl1pPr algn="r">
              <a:defRPr sz="110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2487FF-8AF8-7249-5C7E-DB721CD6A4C3}"/>
              </a:ext>
            </a:extLst>
          </p:cNvPr>
          <p:cNvSpPr/>
          <p:nvPr/>
        </p:nvSpPr>
        <p:spPr>
          <a:xfrm>
            <a:off x="5185276" y="4759865"/>
            <a:ext cx="7006724" cy="20981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p:cNvSpPr>
            <a:spLocks noGrp="1"/>
          </p:cNvSpPr>
          <p:nvPr>
            <p:ph type="ctrTitle"/>
          </p:nvPr>
        </p:nvSpPr>
        <p:spPr/>
        <p:txBody>
          <a:bodyPr/>
          <a:lstStyle/>
          <a:p>
            <a:pPr algn="ctr"/>
            <a:r>
              <a:rPr lang="en-US" dirty="0"/>
              <a:t>BIA 712</a:t>
            </a:r>
          </a:p>
        </p:txBody>
      </p:sp>
      <p:sp>
        <p:nvSpPr>
          <p:cNvPr id="3" name="Subtitle 2"/>
          <p:cNvSpPr>
            <a:spLocks noGrp="1"/>
          </p:cNvSpPr>
          <p:nvPr>
            <p:ph type="subTitle" idx="1"/>
          </p:nvPr>
        </p:nvSpPr>
        <p:spPr>
          <a:xfrm>
            <a:off x="1" y="5181600"/>
            <a:ext cx="5159896" cy="685800"/>
          </a:xfrm>
        </p:spPr>
        <p:txBody>
          <a:bodyPr>
            <a:normAutofit/>
          </a:bodyPr>
          <a:lstStyle/>
          <a:p>
            <a:pPr algn="ctr"/>
            <a:r>
              <a:rPr lang="en-US" b="1" dirty="0">
                <a:solidFill>
                  <a:schemeClr val="tx1"/>
                </a:solidFill>
              </a:rPr>
              <a:t>An analysis of stroke prediction using various parameters</a:t>
            </a:r>
          </a:p>
        </p:txBody>
      </p:sp>
      <p:pic>
        <p:nvPicPr>
          <p:cNvPr id="5" name="Picture 4">
            <a:extLst>
              <a:ext uri="{FF2B5EF4-FFF2-40B4-BE49-F238E27FC236}">
                <a16:creationId xmlns:a16="http://schemas.microsoft.com/office/drawing/2014/main" id="{3259EECC-DE40-F14A-BC76-1B184867E0EA}"/>
              </a:ext>
            </a:extLst>
          </p:cNvPr>
          <p:cNvPicPr>
            <a:picLocks noChangeAspect="1"/>
          </p:cNvPicPr>
          <p:nvPr/>
        </p:nvPicPr>
        <p:blipFill>
          <a:blip r:embed="rId2"/>
          <a:stretch>
            <a:fillRect/>
          </a:stretch>
        </p:blipFill>
        <p:spPr>
          <a:xfrm>
            <a:off x="479376" y="116632"/>
            <a:ext cx="3715268" cy="3620005"/>
          </a:xfrm>
          <a:prstGeom prst="rect">
            <a:avLst/>
          </a:prstGeom>
        </p:spPr>
      </p:pic>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Impact of Hypertension, Heart Disease, and Lifestyle Factors on Stroke Risk: A Comprehensive Analysis of Demographic and Health Data</a:t>
            </a:r>
          </a:p>
        </p:txBody>
      </p:sp>
      <p:sp>
        <p:nvSpPr>
          <p:cNvPr id="3" name="Content Placeholder 2"/>
          <p:cNvSpPr>
            <a:spLocks noGrp="1"/>
          </p:cNvSpPr>
          <p:nvPr>
            <p:ph idx="1"/>
          </p:nvPr>
        </p:nvSpPr>
        <p:spPr/>
        <p:txBody>
          <a:bodyPr>
            <a:normAutofit/>
          </a:bodyPr>
          <a:lstStyle/>
          <a:p>
            <a:pPr marL="0" indent="0">
              <a:buNone/>
            </a:pPr>
            <a:r>
              <a:rPr lang="en-US" sz="2000" dirty="0">
                <a:solidFill>
                  <a:schemeClr val="tx1"/>
                </a:solidFill>
                <a:latin typeface="Calibri" panose="020F0502020204030204" pitchFamily="34" charset="0"/>
                <a:cs typeface="Calibri" panose="020F0502020204030204" pitchFamily="34" charset="0"/>
              </a:rPr>
              <a:t>Objectives:</a:t>
            </a:r>
          </a:p>
          <a:p>
            <a:pPr>
              <a:buFont typeface="+mj-lt"/>
              <a:buAutoNum type="arabicPeriod"/>
            </a:pPr>
            <a:r>
              <a:rPr lang="en-US" sz="2000" dirty="0">
                <a:solidFill>
                  <a:schemeClr val="tx1"/>
                </a:solidFill>
                <a:latin typeface="Calibri" panose="020F0502020204030204" pitchFamily="34" charset="0"/>
                <a:cs typeface="Calibri" panose="020F0502020204030204" pitchFamily="34" charset="0"/>
              </a:rPr>
              <a:t>To investigate the relationship between hypertension, heart disease, and the risk of stroke.</a:t>
            </a:r>
          </a:p>
          <a:p>
            <a:pPr>
              <a:buFont typeface="+mj-lt"/>
              <a:buAutoNum type="arabicPeriod"/>
            </a:pPr>
            <a:r>
              <a:rPr lang="en-US" sz="2000" dirty="0">
                <a:solidFill>
                  <a:schemeClr val="tx1"/>
                </a:solidFill>
                <a:latin typeface="Calibri" panose="020F0502020204030204" pitchFamily="34" charset="0"/>
                <a:cs typeface="Calibri" panose="020F0502020204030204" pitchFamily="34" charset="0"/>
              </a:rPr>
              <a:t>To explore the role of BMI and glucose levels in contributing to stroke occurrence.</a:t>
            </a:r>
          </a:p>
          <a:p>
            <a:pPr>
              <a:buFont typeface="+mj-lt"/>
              <a:buAutoNum type="arabicPeriod"/>
            </a:pPr>
            <a:r>
              <a:rPr lang="en-US" sz="2000" dirty="0">
                <a:solidFill>
                  <a:schemeClr val="tx1"/>
                </a:solidFill>
                <a:latin typeface="Calibri" panose="020F0502020204030204" pitchFamily="34" charset="0"/>
                <a:cs typeface="Calibri" panose="020F0502020204030204" pitchFamily="34" charset="0"/>
              </a:rPr>
              <a:t>To evaluate the influence of lifestyle factors, including smoking status and work type, on stroke risk.</a:t>
            </a:r>
          </a:p>
          <a:p>
            <a:pPr>
              <a:buFont typeface="+mj-lt"/>
              <a:buAutoNum type="arabicPeriod"/>
            </a:pPr>
            <a:r>
              <a:rPr lang="en-US" sz="2000" dirty="0">
                <a:solidFill>
                  <a:schemeClr val="tx1"/>
                </a:solidFill>
                <a:latin typeface="Calibri" panose="020F0502020204030204" pitchFamily="34" charset="0"/>
                <a:cs typeface="Calibri" panose="020F0502020204030204" pitchFamily="34" charset="0"/>
              </a:rPr>
              <a:t>To analyze the impact of demographic factors (age, gender, marital status, and residence type) on stroke prevalence.</a:t>
            </a:r>
          </a:p>
        </p:txBody>
      </p:sp>
    </p:spTree>
    <p:extLst>
      <p:ext uri="{BB962C8B-B14F-4D97-AF65-F5344CB8AC3E}">
        <p14:creationId xmlns:p14="http://schemas.microsoft.com/office/powerpoint/2010/main" val="177296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i="0" u="none" strike="noStrike" dirty="0">
                <a:effectLst/>
                <a:latin typeface="Arial" panose="020B0604020202020204" pitchFamily="34" charset="0"/>
              </a:rPr>
              <a:t>Introduction to the dataset and the purpose of your analysis</a:t>
            </a:r>
            <a:endParaRPr lang="en-US" sz="2400" dirty="0"/>
          </a:p>
        </p:txBody>
      </p:sp>
      <p:sp>
        <p:nvSpPr>
          <p:cNvPr id="3" name="Text Placeholder 2"/>
          <p:cNvSpPr>
            <a:spLocks noGrp="1"/>
          </p:cNvSpPr>
          <p:nvPr>
            <p:ph type="body" idx="1"/>
          </p:nvPr>
        </p:nvSpPr>
        <p:spPr>
          <a:xfrm>
            <a:off x="911424" y="1828798"/>
            <a:ext cx="4800600" cy="762000"/>
          </a:xfrm>
        </p:spPr>
        <p:txBody>
          <a:bodyPr/>
          <a:lstStyle/>
          <a:p>
            <a:r>
              <a:rPr lang="en-US" b="1" dirty="0">
                <a:latin typeface="Calibri" panose="020F0502020204030204" pitchFamily="34" charset="0"/>
                <a:cs typeface="Calibri" panose="020F0502020204030204" pitchFamily="34" charset="0"/>
              </a:rPr>
              <a:t>Aim</a:t>
            </a:r>
          </a:p>
        </p:txBody>
      </p:sp>
      <p:sp>
        <p:nvSpPr>
          <p:cNvPr id="4" name="Content Placeholder 3"/>
          <p:cNvSpPr>
            <a:spLocks noGrp="1"/>
          </p:cNvSpPr>
          <p:nvPr>
            <p:ph sz="half" idx="2"/>
          </p:nvPr>
        </p:nvSpPr>
        <p:spPr>
          <a:xfrm>
            <a:off x="911424" y="2590799"/>
            <a:ext cx="4800600" cy="3810033"/>
          </a:xfrm>
        </p:spPr>
        <p:txBody>
          <a:bodyPr/>
          <a:lstStyle/>
          <a:p>
            <a:pPr marL="0" indent="0" algn="just">
              <a:lnSpc>
                <a:spcPct val="100000"/>
              </a:lnSpc>
              <a:buNone/>
            </a:pPr>
            <a:r>
              <a:rPr lang="en-US" sz="1800" dirty="0">
                <a:solidFill>
                  <a:srgbClr val="000000"/>
                </a:solidFill>
                <a:latin typeface="Calibri" panose="020F0502020204030204" pitchFamily="34" charset="0"/>
                <a:cs typeface="Calibri" panose="020F0502020204030204" pitchFamily="34" charset="0"/>
              </a:rPr>
              <a:t>I</a:t>
            </a:r>
            <a:r>
              <a:rPr lang="en-US" sz="1800" b="0" i="0" u="none" strike="noStrike" dirty="0">
                <a:solidFill>
                  <a:srgbClr val="000000"/>
                </a:solidFill>
                <a:effectLst/>
                <a:latin typeface="Calibri" panose="020F0502020204030204" pitchFamily="34" charset="0"/>
                <a:cs typeface="Calibri" panose="020F0502020204030204" pitchFamily="34" charset="0"/>
              </a:rPr>
              <a:t>n this study </a:t>
            </a:r>
            <a:r>
              <a:rPr lang="en-US" sz="1800" dirty="0">
                <a:solidFill>
                  <a:srgbClr val="000000"/>
                </a:solidFill>
                <a:latin typeface="Calibri" panose="020F0502020204030204" pitchFamily="34" charset="0"/>
                <a:cs typeface="Calibri" panose="020F0502020204030204" pitchFamily="34" charset="0"/>
              </a:rPr>
              <a:t>we are using medical data </a:t>
            </a:r>
            <a:r>
              <a:rPr lang="en-US" sz="1800" b="0" i="0" u="none" strike="noStrike" dirty="0">
                <a:solidFill>
                  <a:srgbClr val="000000"/>
                </a:solidFill>
                <a:effectLst/>
                <a:latin typeface="Calibri" panose="020F0502020204030204" pitchFamily="34" charset="0"/>
                <a:cs typeface="Calibri" panose="020F0502020204030204" pitchFamily="34" charset="0"/>
              </a:rPr>
              <a:t>to discover stroke predictors.  With features that record lifestyle, health, and demographic data, each row represents an individual. Identifiers like ID, personal traits like age and gender, and important health indicators are all included in the columns. Additional, lifestyle characteristics are also included. Stroke, or whether the person has had a stroke, is the target variable in this analysis.</a:t>
            </a:r>
            <a:endParaRPr lang="en-US" dirty="0">
              <a:latin typeface="Calibri" panose="020F0502020204030204" pitchFamily="34" charset="0"/>
              <a:cs typeface="Calibri" panose="020F0502020204030204" pitchFamily="34" charset="0"/>
            </a:endParaRPr>
          </a:p>
        </p:txBody>
      </p:sp>
      <p:sp>
        <p:nvSpPr>
          <p:cNvPr id="5" name="Text Placeholder 4"/>
          <p:cNvSpPr>
            <a:spLocks noGrp="1"/>
          </p:cNvSpPr>
          <p:nvPr>
            <p:ph type="body" sz="quarter" idx="3"/>
          </p:nvPr>
        </p:nvSpPr>
        <p:spPr/>
        <p:txBody>
          <a:bodyPr/>
          <a:lstStyle/>
          <a:p>
            <a:r>
              <a:rPr lang="en-US" b="1" dirty="0">
                <a:latin typeface="Calibri" panose="020F0502020204030204" pitchFamily="34" charset="0"/>
                <a:cs typeface="Calibri" panose="020F0502020204030204" pitchFamily="34" charset="0"/>
              </a:rPr>
              <a:t>Factors of Interest</a:t>
            </a:r>
          </a:p>
        </p:txBody>
      </p:sp>
      <p:sp>
        <p:nvSpPr>
          <p:cNvPr id="6" name="Content Placeholder 5"/>
          <p:cNvSpPr>
            <a:spLocks noGrp="1"/>
          </p:cNvSpPr>
          <p:nvPr>
            <p:ph sz="quarter" idx="4"/>
          </p:nvPr>
        </p:nvSpPr>
        <p:spPr/>
        <p:txBody>
          <a:bodyPr/>
          <a:lstStyle/>
          <a:p>
            <a:r>
              <a:rPr lang="en-ZA" sz="1800" b="1" i="0" u="none" strike="noStrike" dirty="0">
                <a:solidFill>
                  <a:srgbClr val="000000"/>
                </a:solidFill>
                <a:effectLst/>
                <a:latin typeface="Calibri" panose="020F0502020204030204" pitchFamily="34" charset="0"/>
                <a:cs typeface="Calibri" panose="020F0502020204030204" pitchFamily="34" charset="0"/>
              </a:rPr>
              <a:t>Smoking Status</a:t>
            </a:r>
          </a:p>
          <a:p>
            <a:r>
              <a:rPr lang="en-ZA" sz="1800" b="1" i="0" u="none" strike="noStrike" dirty="0">
                <a:solidFill>
                  <a:srgbClr val="000000"/>
                </a:solidFill>
                <a:effectLst/>
                <a:latin typeface="Calibri" panose="020F0502020204030204" pitchFamily="34" charset="0"/>
                <a:cs typeface="Calibri" panose="020F0502020204030204" pitchFamily="34" charset="0"/>
              </a:rPr>
              <a:t>Age Distribution</a:t>
            </a:r>
            <a:endParaRPr lang="en-ZA" sz="1800" b="1" dirty="0">
              <a:solidFill>
                <a:srgbClr val="000000"/>
              </a:solidFill>
              <a:latin typeface="Calibri" panose="020F0502020204030204" pitchFamily="34" charset="0"/>
              <a:cs typeface="Calibri" panose="020F0502020204030204" pitchFamily="34" charset="0"/>
            </a:endParaRPr>
          </a:p>
          <a:p>
            <a:r>
              <a:rPr lang="en-ZA" sz="1800" b="1" i="0" u="none" strike="noStrike" dirty="0">
                <a:solidFill>
                  <a:srgbClr val="000000"/>
                </a:solidFill>
                <a:effectLst/>
                <a:latin typeface="Calibri" panose="020F0502020204030204" pitchFamily="34" charset="0"/>
                <a:cs typeface="Calibri" panose="020F0502020204030204" pitchFamily="34" charset="0"/>
              </a:rPr>
              <a:t>BMI</a:t>
            </a:r>
          </a:p>
          <a:p>
            <a:r>
              <a:rPr lang="en-ZA" sz="1800" b="1" i="0" u="none" strike="noStrike" dirty="0">
                <a:solidFill>
                  <a:srgbClr val="000000"/>
                </a:solidFill>
                <a:effectLst/>
                <a:latin typeface="Calibri" panose="020F0502020204030204" pitchFamily="34" charset="0"/>
                <a:cs typeface="Calibri" panose="020F0502020204030204" pitchFamily="34" charset="0"/>
              </a:rPr>
              <a:t>Average Glucose Leve</a:t>
            </a:r>
            <a:r>
              <a:rPr lang="en-ZA" sz="1800" b="1" dirty="0">
                <a:solidFill>
                  <a:srgbClr val="000000"/>
                </a:solidFill>
                <a:latin typeface="Calibri" panose="020F0502020204030204" pitchFamily="34" charset="0"/>
                <a:cs typeface="Calibri" panose="020F0502020204030204" pitchFamily="34" charset="0"/>
              </a:rPr>
              <a:t>l</a:t>
            </a:r>
          </a:p>
          <a:p>
            <a:r>
              <a:rPr lang="en-ZA" sz="1800" b="1" i="0" u="none" strike="noStrike" dirty="0">
                <a:solidFill>
                  <a:srgbClr val="000000"/>
                </a:solidFill>
                <a:effectLst/>
                <a:latin typeface="Calibri" panose="020F0502020204030204" pitchFamily="34" charset="0"/>
                <a:cs typeface="Calibri" panose="020F0502020204030204" pitchFamily="34" charset="0"/>
              </a:rPr>
              <a:t>Heart Disease</a:t>
            </a:r>
          </a:p>
          <a:p>
            <a:r>
              <a:rPr lang="en-ZA" sz="1800" b="1" i="0" u="none" strike="noStrike" dirty="0">
                <a:solidFill>
                  <a:srgbClr val="000000"/>
                </a:solidFill>
                <a:effectLst/>
                <a:latin typeface="Calibri" panose="020F0502020204030204" pitchFamily="34" charset="0"/>
                <a:cs typeface="Calibri" panose="020F0502020204030204" pitchFamily="34" charset="0"/>
              </a:rPr>
              <a:t>Hypertension</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37673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val 26">
            <a:extLst>
              <a:ext uri="{FF2B5EF4-FFF2-40B4-BE49-F238E27FC236}">
                <a16:creationId xmlns:a16="http://schemas.microsoft.com/office/drawing/2014/main" id="{9D81A7A6-7A93-C386-EE9C-8BC39E3A4A3D}"/>
              </a:ext>
            </a:extLst>
          </p:cNvPr>
          <p:cNvSpPr/>
          <p:nvPr/>
        </p:nvSpPr>
        <p:spPr>
          <a:xfrm>
            <a:off x="8868308" y="3897701"/>
            <a:ext cx="2952328" cy="29993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6" name="Oval 25">
            <a:extLst>
              <a:ext uri="{FF2B5EF4-FFF2-40B4-BE49-F238E27FC236}">
                <a16:creationId xmlns:a16="http://schemas.microsoft.com/office/drawing/2014/main" id="{70DD24ED-8499-1EEA-52AD-E130D1DFB9B7}"/>
              </a:ext>
            </a:extLst>
          </p:cNvPr>
          <p:cNvSpPr/>
          <p:nvPr/>
        </p:nvSpPr>
        <p:spPr>
          <a:xfrm>
            <a:off x="9012324" y="3061223"/>
            <a:ext cx="2520280" cy="7728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5" name="Oval 24">
            <a:extLst>
              <a:ext uri="{FF2B5EF4-FFF2-40B4-BE49-F238E27FC236}">
                <a16:creationId xmlns:a16="http://schemas.microsoft.com/office/drawing/2014/main" id="{1353287F-025F-B3A2-8369-8268C1C72016}"/>
              </a:ext>
            </a:extLst>
          </p:cNvPr>
          <p:cNvSpPr/>
          <p:nvPr/>
        </p:nvSpPr>
        <p:spPr>
          <a:xfrm>
            <a:off x="9012324" y="2115475"/>
            <a:ext cx="2304256" cy="8652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4" name="Oval 23">
            <a:extLst>
              <a:ext uri="{FF2B5EF4-FFF2-40B4-BE49-F238E27FC236}">
                <a16:creationId xmlns:a16="http://schemas.microsoft.com/office/drawing/2014/main" id="{9927308F-1E33-5D8E-74C8-CAE4C129FD47}"/>
              </a:ext>
            </a:extLst>
          </p:cNvPr>
          <p:cNvSpPr/>
          <p:nvPr/>
        </p:nvSpPr>
        <p:spPr>
          <a:xfrm>
            <a:off x="9048328" y="1628800"/>
            <a:ext cx="2304256" cy="4416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p:cNvSpPr>
            <a:spLocks noGrp="1"/>
          </p:cNvSpPr>
          <p:nvPr>
            <p:ph type="title"/>
          </p:nvPr>
        </p:nvSpPr>
        <p:spPr/>
        <p:txBody>
          <a:bodyPr/>
          <a:lstStyle/>
          <a:p>
            <a:r>
              <a:rPr lang="en-US" dirty="0" err="1"/>
              <a:t>Streamlit</a:t>
            </a:r>
            <a:r>
              <a:rPr lang="en-US" dirty="0"/>
              <a:t> Application – Welcome Page </a:t>
            </a:r>
          </a:p>
        </p:txBody>
      </p:sp>
      <p:pic>
        <p:nvPicPr>
          <p:cNvPr id="5" name="Picture 4">
            <a:extLst>
              <a:ext uri="{FF2B5EF4-FFF2-40B4-BE49-F238E27FC236}">
                <a16:creationId xmlns:a16="http://schemas.microsoft.com/office/drawing/2014/main" id="{F42C883C-76DB-26C1-F00E-7FD8050BAD45}"/>
              </a:ext>
            </a:extLst>
          </p:cNvPr>
          <p:cNvPicPr>
            <a:picLocks noChangeAspect="1"/>
          </p:cNvPicPr>
          <p:nvPr/>
        </p:nvPicPr>
        <p:blipFill>
          <a:blip r:embed="rId2"/>
          <a:stretch>
            <a:fillRect/>
          </a:stretch>
        </p:blipFill>
        <p:spPr>
          <a:xfrm>
            <a:off x="191344" y="1844824"/>
            <a:ext cx="8640960" cy="4913956"/>
          </a:xfrm>
          <a:prstGeom prst="rect">
            <a:avLst/>
          </a:prstGeom>
        </p:spPr>
      </p:pic>
      <p:cxnSp>
        <p:nvCxnSpPr>
          <p:cNvPr id="7" name="Straight Arrow Connector 6">
            <a:extLst>
              <a:ext uri="{FF2B5EF4-FFF2-40B4-BE49-F238E27FC236}">
                <a16:creationId xmlns:a16="http://schemas.microsoft.com/office/drawing/2014/main" id="{6E219228-6DBA-23C0-8132-715FF5538064}"/>
              </a:ext>
            </a:extLst>
          </p:cNvPr>
          <p:cNvCxnSpPr>
            <a:cxnSpLocks/>
          </p:cNvCxnSpPr>
          <p:nvPr/>
        </p:nvCxnSpPr>
        <p:spPr>
          <a:xfrm flipH="1">
            <a:off x="1703512" y="1988840"/>
            <a:ext cx="7272808" cy="1080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F2ABE9C-9BB7-A671-E8ED-BAEA0B5D1265}"/>
              </a:ext>
            </a:extLst>
          </p:cNvPr>
          <p:cNvCxnSpPr>
            <a:cxnSpLocks/>
            <a:stCxn id="13" idx="1"/>
          </p:cNvCxnSpPr>
          <p:nvPr/>
        </p:nvCxnSpPr>
        <p:spPr>
          <a:xfrm flipH="1">
            <a:off x="1991544" y="5302094"/>
            <a:ext cx="7056784" cy="961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2954DBD-3E45-BB63-E9AD-40A11D874802}"/>
              </a:ext>
            </a:extLst>
          </p:cNvPr>
          <p:cNvSpPr txBox="1"/>
          <p:nvPr/>
        </p:nvSpPr>
        <p:spPr>
          <a:xfrm>
            <a:off x="9156340" y="1656751"/>
            <a:ext cx="2808312"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App Pages navigation</a:t>
            </a:r>
            <a:endParaRPr lang="en-ZA" sz="16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FD910956-6A52-7333-482F-78BF4358BDC0}"/>
              </a:ext>
            </a:extLst>
          </p:cNvPr>
          <p:cNvSpPr txBox="1"/>
          <p:nvPr/>
        </p:nvSpPr>
        <p:spPr>
          <a:xfrm>
            <a:off x="9048328" y="4517264"/>
            <a:ext cx="2664296" cy="1569660"/>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Filters and sliders allow users to filter specific ranges of data while also providing the ability to apply these filters across the entire app in one step.</a:t>
            </a:r>
            <a:endParaRPr lang="en-ZA" sz="1600" dirty="0">
              <a:latin typeface="Calibri" panose="020F0502020204030204" pitchFamily="34" charset="0"/>
              <a:cs typeface="Calibri" panose="020F0502020204030204" pitchFamily="34" charset="0"/>
            </a:endParaRPr>
          </a:p>
        </p:txBody>
      </p:sp>
      <p:cxnSp>
        <p:nvCxnSpPr>
          <p:cNvPr id="16" name="Straight Arrow Connector 15">
            <a:extLst>
              <a:ext uri="{FF2B5EF4-FFF2-40B4-BE49-F238E27FC236}">
                <a16:creationId xmlns:a16="http://schemas.microsoft.com/office/drawing/2014/main" id="{7447F57D-810C-1E4F-F29D-DCCCEA69F047}"/>
              </a:ext>
            </a:extLst>
          </p:cNvPr>
          <p:cNvCxnSpPr>
            <a:cxnSpLocks/>
            <a:stCxn id="18" idx="1"/>
          </p:cNvCxnSpPr>
          <p:nvPr/>
        </p:nvCxnSpPr>
        <p:spPr>
          <a:xfrm flipH="1">
            <a:off x="3971764" y="2535050"/>
            <a:ext cx="5184576" cy="759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2488F81-58D3-2FC0-D02A-8DBA203A3AE2}"/>
              </a:ext>
            </a:extLst>
          </p:cNvPr>
          <p:cNvSpPr txBox="1"/>
          <p:nvPr/>
        </p:nvSpPr>
        <p:spPr>
          <a:xfrm>
            <a:off x="9156340" y="2242662"/>
            <a:ext cx="2376264"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The reason why the app was created</a:t>
            </a:r>
            <a:endParaRPr lang="en-ZA" sz="1600" dirty="0">
              <a:latin typeface="Calibri" panose="020F0502020204030204" pitchFamily="34" charset="0"/>
              <a:cs typeface="Calibri" panose="020F0502020204030204" pitchFamily="34" charset="0"/>
            </a:endParaRPr>
          </a:p>
        </p:txBody>
      </p:sp>
      <p:cxnSp>
        <p:nvCxnSpPr>
          <p:cNvPr id="21" name="Straight Arrow Connector 20">
            <a:extLst>
              <a:ext uri="{FF2B5EF4-FFF2-40B4-BE49-F238E27FC236}">
                <a16:creationId xmlns:a16="http://schemas.microsoft.com/office/drawing/2014/main" id="{079C4500-0891-BED1-2DBF-57965E591C64}"/>
              </a:ext>
            </a:extLst>
          </p:cNvPr>
          <p:cNvCxnSpPr>
            <a:cxnSpLocks/>
            <a:stCxn id="22" idx="1"/>
          </p:cNvCxnSpPr>
          <p:nvPr/>
        </p:nvCxnSpPr>
        <p:spPr>
          <a:xfrm flipH="1">
            <a:off x="4258574" y="3357690"/>
            <a:ext cx="4897766" cy="12261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B1F3E8D-4CE4-6BE2-5B84-8CE2058DDCBD}"/>
              </a:ext>
            </a:extLst>
          </p:cNvPr>
          <p:cNvSpPr txBox="1"/>
          <p:nvPr/>
        </p:nvSpPr>
        <p:spPr>
          <a:xfrm>
            <a:off x="9156340" y="3188413"/>
            <a:ext cx="2376264"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What the App consists of</a:t>
            </a:r>
            <a:endParaRPr lang="en-ZA"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7100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47B1F-A027-4B4E-9D68-787679780031}"/>
              </a:ext>
            </a:extLst>
          </p:cNvPr>
          <p:cNvSpPr>
            <a:spLocks noGrp="1"/>
          </p:cNvSpPr>
          <p:nvPr>
            <p:ph type="title"/>
          </p:nvPr>
        </p:nvSpPr>
        <p:spPr/>
        <p:txBody>
          <a:bodyPr/>
          <a:lstStyle/>
          <a:p>
            <a:r>
              <a:rPr lang="en-ZA" dirty="0"/>
              <a:t>Dataset Overview</a:t>
            </a:r>
          </a:p>
        </p:txBody>
      </p:sp>
      <p:pic>
        <p:nvPicPr>
          <p:cNvPr id="3" name="Picture 2">
            <a:extLst>
              <a:ext uri="{FF2B5EF4-FFF2-40B4-BE49-F238E27FC236}">
                <a16:creationId xmlns:a16="http://schemas.microsoft.com/office/drawing/2014/main" id="{257614C7-BC0B-4A55-A4D8-1804B729F85D}"/>
              </a:ext>
            </a:extLst>
          </p:cNvPr>
          <p:cNvPicPr>
            <a:picLocks noChangeAspect="1"/>
          </p:cNvPicPr>
          <p:nvPr/>
        </p:nvPicPr>
        <p:blipFill>
          <a:blip r:embed="rId2"/>
          <a:stretch>
            <a:fillRect/>
          </a:stretch>
        </p:blipFill>
        <p:spPr>
          <a:xfrm>
            <a:off x="2279576" y="1779334"/>
            <a:ext cx="7128792" cy="4979446"/>
          </a:xfrm>
          <a:prstGeom prst="rect">
            <a:avLst/>
          </a:prstGeom>
        </p:spPr>
      </p:pic>
    </p:spTree>
    <p:extLst>
      <p:ext uri="{BB962C8B-B14F-4D97-AF65-F5344CB8AC3E}">
        <p14:creationId xmlns:p14="http://schemas.microsoft.com/office/powerpoint/2010/main" val="3839836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Demographic Factors</a:t>
            </a:r>
          </a:p>
        </p:txBody>
      </p:sp>
      <p:pic>
        <p:nvPicPr>
          <p:cNvPr id="1026" name="Picture 2">
            <a:extLst>
              <a:ext uri="{FF2B5EF4-FFF2-40B4-BE49-F238E27FC236}">
                <a16:creationId xmlns:a16="http://schemas.microsoft.com/office/drawing/2014/main" id="{F5FFE7AD-67ED-2E9A-A98E-F574CA84F8E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484784"/>
            <a:ext cx="5839219" cy="309634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0BC9CE1-DAB8-CB5F-EB39-0BFA4BFF6E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7968" y="1520788"/>
            <a:ext cx="6351067" cy="309634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8CD63DD-A00A-2DC6-A537-7BF85EF0656E}"/>
              </a:ext>
            </a:extLst>
          </p:cNvPr>
          <p:cNvSpPr txBox="1"/>
          <p:nvPr/>
        </p:nvSpPr>
        <p:spPr>
          <a:xfrm>
            <a:off x="32965" y="4581128"/>
            <a:ext cx="5414963" cy="523220"/>
          </a:xfrm>
          <a:prstGeom prst="rect">
            <a:avLst/>
          </a:prstGeom>
          <a:noFill/>
        </p:spPr>
        <p:txBody>
          <a:bodyPr wrap="square" rtlCol="0">
            <a:spAutoFit/>
          </a:bodyPr>
          <a:lstStyle/>
          <a:p>
            <a:r>
              <a:rPr lang="en-ZA" sz="1400" dirty="0">
                <a:latin typeface="Calibri" panose="020F0502020204030204" pitchFamily="34" charset="0"/>
                <a:cs typeface="Calibri" panose="020F0502020204030204" pitchFamily="34" charset="0"/>
              </a:rPr>
              <a:t>The population analysis shows that 59% are female, represented by the largest blue area, while 41% are male, depicted in a darker blue shade.</a:t>
            </a:r>
          </a:p>
        </p:txBody>
      </p:sp>
      <p:sp>
        <p:nvSpPr>
          <p:cNvPr id="7" name="TextBox 6">
            <a:extLst>
              <a:ext uri="{FF2B5EF4-FFF2-40B4-BE49-F238E27FC236}">
                <a16:creationId xmlns:a16="http://schemas.microsoft.com/office/drawing/2014/main" id="{69CF75CE-7C8C-AA8D-0F74-79F32DA949AA}"/>
              </a:ext>
            </a:extLst>
          </p:cNvPr>
          <p:cNvSpPr txBox="1"/>
          <p:nvPr/>
        </p:nvSpPr>
        <p:spPr>
          <a:xfrm>
            <a:off x="5735033" y="4596517"/>
            <a:ext cx="6478027" cy="1815882"/>
          </a:xfrm>
          <a:prstGeom prst="rect">
            <a:avLst/>
          </a:prstGeom>
          <a:noFill/>
        </p:spPr>
        <p:txBody>
          <a:bodyPr wrap="square" rtlCol="0">
            <a:spAutoFit/>
          </a:bodyPr>
          <a:lstStyle/>
          <a:p>
            <a:pPr marL="285750" indent="-285750">
              <a:buFont typeface="Arial" panose="020B0604020202020204" pitchFamily="34" charset="0"/>
              <a:buChar char="•"/>
            </a:pPr>
            <a:r>
              <a:rPr lang="en-US" sz="1400" i="0" u="none" strike="noStrike" dirty="0">
                <a:solidFill>
                  <a:srgbClr val="000000"/>
                </a:solidFill>
                <a:effectLst/>
                <a:latin typeface="Calibri" panose="020F0502020204030204" pitchFamily="34" charset="0"/>
                <a:cs typeface="Calibri" panose="020F0502020204030204" pitchFamily="34" charset="0"/>
              </a:rPr>
              <a:t>Stroke(0) :</a:t>
            </a:r>
            <a:r>
              <a:rPr lang="en-ZA" sz="1400" dirty="0">
                <a:latin typeface="Calibri" panose="020F0502020204030204" pitchFamily="34" charset="0"/>
                <a:cs typeface="Calibri" panose="020F0502020204030204" pitchFamily="34" charset="0"/>
              </a:rPr>
              <a:t> these individuals have a median age between 40 and 45, with an interquartile range (IQR) spanning from 25 to 60 years, and an age spread from about 20 to 80 years. </a:t>
            </a:r>
          </a:p>
          <a:p>
            <a:pPr marL="285750" indent="-285750">
              <a:buFont typeface="Arial" panose="020B0604020202020204" pitchFamily="34" charset="0"/>
              <a:buChar char="•"/>
            </a:pPr>
            <a:endParaRPr lang="en-ZA" sz="1400" i="0" u="none" strike="noStrike" dirty="0">
              <a:solidFill>
                <a:srgbClr val="000000"/>
              </a:solidFill>
              <a:effectLst/>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i="0" u="none" strike="noStrike" dirty="0">
                <a:solidFill>
                  <a:srgbClr val="000000"/>
                </a:solidFill>
                <a:effectLst/>
                <a:latin typeface="Calibri" panose="020F0502020204030204" pitchFamily="34" charset="0"/>
                <a:cs typeface="Calibri" panose="020F0502020204030204" pitchFamily="34" charset="0"/>
              </a:rPr>
              <a:t>Stroke (1): </a:t>
            </a:r>
            <a:r>
              <a:rPr lang="en-ZA" sz="1400" dirty="0">
                <a:latin typeface="Calibri" panose="020F0502020204030204" pitchFamily="34" charset="0"/>
                <a:cs typeface="Calibri" panose="020F0502020204030204" pitchFamily="34" charset="0"/>
              </a:rPr>
              <a:t>Stroke patients have a higher median age of around 70, with an IQR from 60 to 80 years, while the age spread extends from approximately 40 to the 80s, indicating strokes are more common in older individuals but can also occur in younger people</a:t>
            </a:r>
          </a:p>
        </p:txBody>
      </p:sp>
    </p:spTree>
    <p:extLst>
      <p:ext uri="{BB962C8B-B14F-4D97-AF65-F5344CB8AC3E}">
        <p14:creationId xmlns:p14="http://schemas.microsoft.com/office/powerpoint/2010/main" val="1928620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135A8-C8E9-60B7-CF29-7B758E4C3CBC}"/>
              </a:ext>
            </a:extLst>
          </p:cNvPr>
          <p:cNvSpPr>
            <a:spLocks noGrp="1"/>
          </p:cNvSpPr>
          <p:nvPr>
            <p:ph type="title"/>
          </p:nvPr>
        </p:nvSpPr>
        <p:spPr/>
        <p:txBody>
          <a:bodyPr/>
          <a:lstStyle/>
          <a:p>
            <a:r>
              <a:rPr lang="en-US" dirty="0"/>
              <a:t>Health Factors</a:t>
            </a:r>
            <a:endParaRPr lang="en-ZA" dirty="0"/>
          </a:p>
        </p:txBody>
      </p:sp>
      <p:pic>
        <p:nvPicPr>
          <p:cNvPr id="2050" name="Picture 2">
            <a:extLst>
              <a:ext uri="{FF2B5EF4-FFF2-40B4-BE49-F238E27FC236}">
                <a16:creationId xmlns:a16="http://schemas.microsoft.com/office/drawing/2014/main" id="{6EB829CC-3BDC-5F7A-1BBA-857A98713B5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3392" y="1581560"/>
            <a:ext cx="4680520" cy="403461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81F9BFFD-B78F-B4CB-7356-DFF9A2310D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9884" y="1604278"/>
            <a:ext cx="5125614" cy="403461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B0B9C46-70CF-16BD-0B93-39A5E50E388B}"/>
              </a:ext>
            </a:extLst>
          </p:cNvPr>
          <p:cNvSpPr txBox="1"/>
          <p:nvPr/>
        </p:nvSpPr>
        <p:spPr>
          <a:xfrm>
            <a:off x="626502" y="5558506"/>
            <a:ext cx="4605402" cy="1015663"/>
          </a:xfrm>
          <a:prstGeom prst="rect">
            <a:avLst/>
          </a:prstGeom>
          <a:noFill/>
        </p:spPr>
        <p:txBody>
          <a:bodyPr wrap="square" rtlCol="0">
            <a:spAutoFit/>
          </a:bodyPr>
          <a:lstStyle/>
          <a:p>
            <a:pPr algn="just"/>
            <a:r>
              <a:rPr lang="en-ZA" sz="1400" dirty="0">
                <a:latin typeface="Calibri" panose="020F0502020204030204" pitchFamily="34" charset="0"/>
                <a:cs typeface="Calibri" panose="020F0502020204030204" pitchFamily="34" charset="0"/>
              </a:rPr>
              <a:t>The chart shows that 87.2% of individuals with hypertension do not experience a stroke, while 12.8% of those with hypertension have suffered a stroke.</a:t>
            </a:r>
          </a:p>
          <a:p>
            <a:endParaRPr lang="en-ZA" dirty="0"/>
          </a:p>
        </p:txBody>
      </p:sp>
      <p:sp>
        <p:nvSpPr>
          <p:cNvPr id="5" name="TextBox 4">
            <a:extLst>
              <a:ext uri="{FF2B5EF4-FFF2-40B4-BE49-F238E27FC236}">
                <a16:creationId xmlns:a16="http://schemas.microsoft.com/office/drawing/2014/main" id="{9F385999-4EC8-D45F-5DB1-B439653F51F9}"/>
              </a:ext>
            </a:extLst>
          </p:cNvPr>
          <p:cNvSpPr txBox="1"/>
          <p:nvPr/>
        </p:nvSpPr>
        <p:spPr>
          <a:xfrm>
            <a:off x="6439884" y="5598100"/>
            <a:ext cx="5056716" cy="800219"/>
          </a:xfrm>
          <a:prstGeom prst="rect">
            <a:avLst/>
          </a:prstGeom>
          <a:noFill/>
        </p:spPr>
        <p:txBody>
          <a:bodyPr wrap="square" rtlCol="0">
            <a:spAutoFit/>
          </a:bodyPr>
          <a:lstStyle/>
          <a:p>
            <a:r>
              <a:rPr lang="en-ZA" sz="1400" dirty="0">
                <a:latin typeface="Calibri" panose="020F0502020204030204" pitchFamily="34" charset="0"/>
                <a:cs typeface="Calibri" panose="020F0502020204030204" pitchFamily="34" charset="0"/>
              </a:rPr>
              <a:t>The chart above shows that 84.7% of individuals with heart disease have not experienced a stroke, while 15.3% have suffered a stroke.</a:t>
            </a:r>
          </a:p>
          <a:p>
            <a:endParaRPr lang="en-ZA" dirty="0"/>
          </a:p>
        </p:txBody>
      </p:sp>
    </p:spTree>
    <p:extLst>
      <p:ext uri="{BB962C8B-B14F-4D97-AF65-F5344CB8AC3E}">
        <p14:creationId xmlns:p14="http://schemas.microsoft.com/office/powerpoint/2010/main" val="3761561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135A8-C8E9-60B7-CF29-7B758E4C3CBC}"/>
              </a:ext>
            </a:extLst>
          </p:cNvPr>
          <p:cNvSpPr>
            <a:spLocks noGrp="1"/>
          </p:cNvSpPr>
          <p:nvPr>
            <p:ph type="title"/>
          </p:nvPr>
        </p:nvSpPr>
        <p:spPr/>
        <p:txBody>
          <a:bodyPr/>
          <a:lstStyle/>
          <a:p>
            <a:r>
              <a:rPr lang="en-US" dirty="0"/>
              <a:t>Health Factors</a:t>
            </a:r>
            <a:endParaRPr lang="en-ZA" dirty="0"/>
          </a:p>
        </p:txBody>
      </p:sp>
      <p:pic>
        <p:nvPicPr>
          <p:cNvPr id="2054" name="Picture 6">
            <a:extLst>
              <a:ext uri="{FF2B5EF4-FFF2-40B4-BE49-F238E27FC236}">
                <a16:creationId xmlns:a16="http://schemas.microsoft.com/office/drawing/2014/main" id="{78A16B2E-8C8C-283D-DDB6-3CA0183408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133" y="1844824"/>
            <a:ext cx="5824650" cy="446841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1A627D8-7173-4936-01C3-6C58D3F8FCCA}"/>
              </a:ext>
            </a:extLst>
          </p:cNvPr>
          <p:cNvSpPr txBox="1"/>
          <p:nvPr/>
        </p:nvSpPr>
        <p:spPr>
          <a:xfrm>
            <a:off x="6456040" y="1874033"/>
            <a:ext cx="4120652" cy="2677656"/>
          </a:xfrm>
          <a:prstGeom prst="rect">
            <a:avLst/>
          </a:prstGeom>
          <a:noFill/>
        </p:spPr>
        <p:txBody>
          <a:bodyPr wrap="square" rtlCol="0">
            <a:spAutoFit/>
          </a:bodyPr>
          <a:lstStyle/>
          <a:p>
            <a:pPr marL="285750" indent="-285750">
              <a:buFont typeface="Arial" panose="020B0604020202020204" pitchFamily="34" charset="0"/>
              <a:buChar char="•"/>
            </a:pPr>
            <a:r>
              <a:rPr lang="en-ZA" sz="1400" dirty="0">
                <a:latin typeface="Calibri" panose="020F0502020204030204" pitchFamily="34" charset="0"/>
                <a:cs typeface="Calibri" panose="020F0502020204030204" pitchFamily="34" charset="0"/>
              </a:rPr>
              <a:t>For individuals without heart disease, the median age is 45 for those without a stroke, ranging from 20 to 80 years, while for stroke cases, the median age increases to 70, with the middle 50% between 55 and 75 years.</a:t>
            </a:r>
          </a:p>
          <a:p>
            <a:pPr marL="285750" indent="-285750">
              <a:buFont typeface="Arial" panose="020B0604020202020204" pitchFamily="34" charset="0"/>
              <a:buChar char="•"/>
            </a:pPr>
            <a:endParaRPr lang="en-ZA" sz="1400" dirty="0">
              <a:latin typeface="Calibri" panose="020F0502020204030204" pitchFamily="34" charset="0"/>
              <a:cs typeface="Calibri" panose="020F0502020204030204" pitchFamily="34" charset="0"/>
            </a:endParaRPr>
          </a:p>
          <a:p>
            <a:endParaRPr lang="en-ZA" sz="14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ZA" sz="1400" dirty="0">
                <a:latin typeface="Calibri" panose="020F0502020204030204" pitchFamily="34" charset="0"/>
                <a:cs typeface="Calibri" panose="020F0502020204030204" pitchFamily="34" charset="0"/>
              </a:rPr>
              <a:t>Individuals with heart disease have a median age of 60 years for those without stroke, ranging from 40 to 80 years, while stroke cases show a narrower age range of 60 to 75 years, with a median of 65 to 70 years.</a:t>
            </a:r>
          </a:p>
        </p:txBody>
      </p:sp>
    </p:spTree>
    <p:extLst>
      <p:ext uri="{BB962C8B-B14F-4D97-AF65-F5344CB8AC3E}">
        <p14:creationId xmlns:p14="http://schemas.microsoft.com/office/powerpoint/2010/main" val="3256287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5CF93-B74D-EDC8-4C89-CF723BD1E8FB}"/>
              </a:ext>
            </a:extLst>
          </p:cNvPr>
          <p:cNvSpPr>
            <a:spLocks noGrp="1"/>
          </p:cNvSpPr>
          <p:nvPr>
            <p:ph type="title"/>
          </p:nvPr>
        </p:nvSpPr>
        <p:spPr/>
        <p:txBody>
          <a:bodyPr/>
          <a:lstStyle/>
          <a:p>
            <a:r>
              <a:rPr lang="en-US" dirty="0"/>
              <a:t>Lifestyle Factors</a:t>
            </a:r>
            <a:endParaRPr lang="en-ZA" dirty="0"/>
          </a:p>
        </p:txBody>
      </p:sp>
      <p:pic>
        <p:nvPicPr>
          <p:cNvPr id="3074" name="Picture 2">
            <a:extLst>
              <a:ext uri="{FF2B5EF4-FFF2-40B4-BE49-F238E27FC236}">
                <a16:creationId xmlns:a16="http://schemas.microsoft.com/office/drawing/2014/main" id="{8126BE60-B0CF-A6E7-3AA4-569CAE10368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93" y="1572607"/>
            <a:ext cx="5948191" cy="300852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3BA085B-2A62-E6F2-D080-F57F6F177065}"/>
              </a:ext>
            </a:extLst>
          </p:cNvPr>
          <p:cNvSpPr txBox="1"/>
          <p:nvPr/>
        </p:nvSpPr>
        <p:spPr>
          <a:xfrm>
            <a:off x="37900" y="4581128"/>
            <a:ext cx="5842076" cy="954107"/>
          </a:xfrm>
          <a:prstGeom prst="rect">
            <a:avLst/>
          </a:prstGeom>
          <a:noFill/>
        </p:spPr>
        <p:txBody>
          <a:bodyPr wrap="square" rtlCol="0">
            <a:spAutoFit/>
          </a:bodyPr>
          <a:lstStyle/>
          <a:p>
            <a:r>
              <a:rPr lang="en-ZA" sz="1400" dirty="0">
                <a:latin typeface="Calibri" panose="020F0502020204030204" pitchFamily="34" charset="0"/>
                <a:cs typeface="Calibri" panose="020F0502020204030204" pitchFamily="34" charset="0"/>
              </a:rPr>
              <a:t>The boxplot shows no significant direct correlation between BMI and stroke incidence, though BMI may indirectly increase stroke risk through conditions like diabetes or hypertension. BMI values are similar between stroke and non-stroke groups, with a slightly narrower distribution among stroke patients.</a:t>
            </a:r>
          </a:p>
        </p:txBody>
      </p:sp>
      <p:pic>
        <p:nvPicPr>
          <p:cNvPr id="3076" name="Picture 4">
            <a:extLst>
              <a:ext uri="{FF2B5EF4-FFF2-40B4-BE49-F238E27FC236}">
                <a16:creationId xmlns:a16="http://schemas.microsoft.com/office/drawing/2014/main" id="{1D065B3E-99D9-5955-4327-E16F9197DC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1984" y="1572607"/>
            <a:ext cx="6240017" cy="300852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152D359-24B8-CDC9-85FB-FA91D6F098BD}"/>
              </a:ext>
            </a:extLst>
          </p:cNvPr>
          <p:cNvSpPr txBox="1"/>
          <p:nvPr/>
        </p:nvSpPr>
        <p:spPr>
          <a:xfrm>
            <a:off x="5951984" y="4581128"/>
            <a:ext cx="6202116" cy="954107"/>
          </a:xfrm>
          <a:prstGeom prst="rect">
            <a:avLst/>
          </a:prstGeom>
          <a:noFill/>
        </p:spPr>
        <p:txBody>
          <a:bodyPr wrap="square" rtlCol="0">
            <a:spAutoFit/>
          </a:bodyPr>
          <a:lstStyle/>
          <a:p>
            <a:r>
              <a:rPr lang="en-ZA" sz="1400" dirty="0">
                <a:latin typeface="Calibri" panose="020F0502020204030204" pitchFamily="34" charset="0"/>
                <a:cs typeface="Calibri" panose="020F0502020204030204" pitchFamily="34" charset="0"/>
              </a:rPr>
              <a:t>The visualization shows that current and former smokers have a slightly higher stroke risk than those who never smoked, though the difference is modest and affected by the large "unknown" category. Smoking remains a stroke risk factor, especially for those with a smoking history.</a:t>
            </a:r>
          </a:p>
        </p:txBody>
      </p:sp>
    </p:spTree>
    <p:extLst>
      <p:ext uri="{BB962C8B-B14F-4D97-AF65-F5344CB8AC3E}">
        <p14:creationId xmlns:p14="http://schemas.microsoft.com/office/powerpoint/2010/main" val="3236774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5C824-27F8-F969-D264-9F7E99B68849}"/>
              </a:ext>
            </a:extLst>
          </p:cNvPr>
          <p:cNvSpPr>
            <a:spLocks noGrp="1"/>
          </p:cNvSpPr>
          <p:nvPr>
            <p:ph type="title"/>
          </p:nvPr>
        </p:nvSpPr>
        <p:spPr/>
        <p:txBody>
          <a:bodyPr/>
          <a:lstStyle/>
          <a:p>
            <a:r>
              <a:rPr lang="en-US" dirty="0"/>
              <a:t>Correlation Analysis</a:t>
            </a:r>
            <a:endParaRPr lang="en-ZA" dirty="0"/>
          </a:p>
        </p:txBody>
      </p:sp>
      <p:pic>
        <p:nvPicPr>
          <p:cNvPr id="4098" name="Picture 2">
            <a:extLst>
              <a:ext uri="{FF2B5EF4-FFF2-40B4-BE49-F238E27FC236}">
                <a16:creationId xmlns:a16="http://schemas.microsoft.com/office/drawing/2014/main" id="{995B2FC6-A187-7989-D583-2DAE44EF4D0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556792"/>
            <a:ext cx="6175783" cy="352989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CF3A2797-3C60-5744-5C54-2BAF130D6C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5783" y="1575713"/>
            <a:ext cx="6016217" cy="351096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3D5A82D-A0E7-7F1A-25BF-9B52D54D039F}"/>
              </a:ext>
            </a:extLst>
          </p:cNvPr>
          <p:cNvSpPr txBox="1"/>
          <p:nvPr/>
        </p:nvSpPr>
        <p:spPr>
          <a:xfrm>
            <a:off x="119336" y="5086682"/>
            <a:ext cx="5896882" cy="738664"/>
          </a:xfrm>
          <a:prstGeom prst="rect">
            <a:avLst/>
          </a:prstGeom>
          <a:noFill/>
        </p:spPr>
        <p:txBody>
          <a:bodyPr wrap="square" rtlCol="0">
            <a:spAutoFit/>
          </a:bodyPr>
          <a:lstStyle/>
          <a:p>
            <a:r>
              <a:rPr lang="en-ZA" sz="1400" dirty="0">
                <a:latin typeface="Calibri" panose="020F0502020204030204" pitchFamily="34" charset="0"/>
                <a:cs typeface="Calibri" panose="020F0502020204030204" pitchFamily="34" charset="0"/>
              </a:rPr>
              <a:t>There is a moderate positive correlation between age and glucose level (0.2333), and age is the strongest factor linked to stroke risk (0.2199). Glucose level shows a weaker but significant correlation with stroke (0.1392).</a:t>
            </a:r>
          </a:p>
        </p:txBody>
      </p:sp>
      <p:sp>
        <p:nvSpPr>
          <p:cNvPr id="5" name="TextBox 4">
            <a:extLst>
              <a:ext uri="{FF2B5EF4-FFF2-40B4-BE49-F238E27FC236}">
                <a16:creationId xmlns:a16="http://schemas.microsoft.com/office/drawing/2014/main" id="{50F0814A-C86A-7AC1-3202-9A0612375663}"/>
              </a:ext>
            </a:extLst>
          </p:cNvPr>
          <p:cNvSpPr txBox="1"/>
          <p:nvPr/>
        </p:nvSpPr>
        <p:spPr>
          <a:xfrm>
            <a:off x="6240016" y="5086682"/>
            <a:ext cx="5832648" cy="738664"/>
          </a:xfrm>
          <a:prstGeom prst="rect">
            <a:avLst/>
          </a:prstGeom>
          <a:noFill/>
        </p:spPr>
        <p:txBody>
          <a:bodyPr wrap="square" rtlCol="0">
            <a:spAutoFit/>
          </a:bodyPr>
          <a:lstStyle/>
          <a:p>
            <a:r>
              <a:rPr lang="en-ZA" sz="1400" dirty="0">
                <a:latin typeface="Calibri" panose="020F0502020204030204" pitchFamily="34" charset="0"/>
                <a:cs typeface="Calibri" panose="020F0502020204030204" pitchFamily="34" charset="0"/>
              </a:rPr>
              <a:t>There is a weak positive correlation between BMI and glucose level (0.1171), and an even weaker correlation between BMI and stroke (0.0512), suggesting BMI is not a strong predictor of stroke.</a:t>
            </a:r>
          </a:p>
        </p:txBody>
      </p:sp>
    </p:spTree>
    <p:extLst>
      <p:ext uri="{BB962C8B-B14F-4D97-AF65-F5344CB8AC3E}">
        <p14:creationId xmlns:p14="http://schemas.microsoft.com/office/powerpoint/2010/main" val="3670243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1CDA7-FF23-F7D7-97A1-D3244C3F4424}"/>
              </a:ext>
            </a:extLst>
          </p:cNvPr>
          <p:cNvSpPr>
            <a:spLocks noGrp="1"/>
          </p:cNvSpPr>
          <p:nvPr>
            <p:ph type="title"/>
          </p:nvPr>
        </p:nvSpPr>
        <p:spPr/>
        <p:txBody>
          <a:bodyPr/>
          <a:lstStyle/>
          <a:p>
            <a:r>
              <a:rPr lang="en-US" dirty="0"/>
              <a:t>Correlation Matrix</a:t>
            </a:r>
            <a:endParaRPr lang="en-ZA" dirty="0"/>
          </a:p>
        </p:txBody>
      </p:sp>
      <p:pic>
        <p:nvPicPr>
          <p:cNvPr id="5122" name="Picture 2">
            <a:extLst>
              <a:ext uri="{FF2B5EF4-FFF2-40B4-BE49-F238E27FC236}">
                <a16:creationId xmlns:a16="http://schemas.microsoft.com/office/drawing/2014/main" id="{283D38B5-B400-5768-4666-76FBC435C36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328" y="1628800"/>
            <a:ext cx="4673496" cy="512998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3AF00A4-5054-84C7-F79D-0C77FF52C80B}"/>
              </a:ext>
            </a:extLst>
          </p:cNvPr>
          <p:cNvSpPr txBox="1"/>
          <p:nvPr/>
        </p:nvSpPr>
        <p:spPr>
          <a:xfrm>
            <a:off x="4871864" y="1772816"/>
            <a:ext cx="7200800" cy="2308324"/>
          </a:xfrm>
          <a:prstGeom prst="rect">
            <a:avLst/>
          </a:prstGeom>
          <a:noFill/>
        </p:spPr>
        <p:txBody>
          <a:bodyPr wrap="square" rtlCol="0">
            <a:spAutoFit/>
          </a:bodyPr>
          <a:lstStyle/>
          <a:p>
            <a:pPr marL="285750" indent="-285750" rtl="0">
              <a:spcBef>
                <a:spcPts val="0"/>
              </a:spcBef>
              <a:spcAft>
                <a:spcPts val="0"/>
              </a:spcAft>
              <a:buFont typeface="Arial" panose="020B0604020202020204" pitchFamily="34" charset="0"/>
              <a:buChar char="•"/>
            </a:pPr>
            <a:r>
              <a:rPr lang="en-US" sz="1400" b="0" i="0" u="none" strike="noStrike" dirty="0">
                <a:solidFill>
                  <a:srgbClr val="000000"/>
                </a:solidFill>
                <a:effectLst/>
                <a:latin typeface="Arial" panose="020B0604020202020204" pitchFamily="34" charset="0"/>
              </a:rPr>
              <a:t>Based on the dataset, this matrix suggests that age is the strongest predictor of stroke risk, followed by hypertension.</a:t>
            </a:r>
          </a:p>
          <a:p>
            <a:pPr marL="285750" indent="-285750" rtl="0">
              <a:spcBef>
                <a:spcPts val="0"/>
              </a:spcBef>
              <a:spcAft>
                <a:spcPts val="0"/>
              </a:spcAft>
              <a:buFont typeface="Arial" panose="020B0604020202020204" pitchFamily="34" charset="0"/>
              <a:buChar char="•"/>
            </a:pPr>
            <a:endParaRPr lang="en-US" sz="1400" dirty="0">
              <a:solidFill>
                <a:srgbClr val="000000"/>
              </a:solidFill>
              <a:latin typeface="Arial" panose="020B0604020202020204" pitchFamily="34" charset="0"/>
            </a:endParaRPr>
          </a:p>
          <a:p>
            <a:pPr marL="285750" indent="-285750" rtl="0">
              <a:spcBef>
                <a:spcPts val="0"/>
              </a:spcBef>
              <a:spcAft>
                <a:spcPts val="0"/>
              </a:spcAft>
              <a:buFont typeface="Arial" panose="020B0604020202020204" pitchFamily="34" charset="0"/>
              <a:buChar char="•"/>
            </a:pPr>
            <a:r>
              <a:rPr lang="en-US" sz="1400" b="0" i="0" u="none" strike="noStrike" dirty="0">
                <a:solidFill>
                  <a:srgbClr val="000000"/>
                </a:solidFill>
                <a:effectLst/>
                <a:latin typeface="Arial" panose="020B0604020202020204" pitchFamily="34" charset="0"/>
              </a:rPr>
              <a:t>Average glucose level also has a weak positive correlation with stroke, but its impact is less pronounced compared to hypertension. </a:t>
            </a:r>
          </a:p>
          <a:p>
            <a:pPr marL="285750" indent="-285750" rtl="0">
              <a:spcBef>
                <a:spcPts val="0"/>
              </a:spcBef>
              <a:spcAft>
                <a:spcPts val="0"/>
              </a:spcAft>
              <a:buFont typeface="Arial" panose="020B0604020202020204" pitchFamily="34" charset="0"/>
              <a:buChar char="•"/>
            </a:pPr>
            <a:endParaRPr lang="en-US" sz="1400" dirty="0">
              <a:solidFill>
                <a:srgbClr val="000000"/>
              </a:solidFill>
              <a:latin typeface="Arial" panose="020B0604020202020204" pitchFamily="34" charset="0"/>
            </a:endParaRPr>
          </a:p>
          <a:p>
            <a:pPr marL="285750" indent="-285750" rtl="0">
              <a:spcBef>
                <a:spcPts val="0"/>
              </a:spcBef>
              <a:spcAft>
                <a:spcPts val="0"/>
              </a:spcAft>
              <a:buFont typeface="Arial" panose="020B0604020202020204" pitchFamily="34" charset="0"/>
              <a:buChar char="•"/>
            </a:pPr>
            <a:r>
              <a:rPr lang="en-US" sz="1400" b="0" i="0" u="none" strike="noStrike" dirty="0">
                <a:solidFill>
                  <a:srgbClr val="000000"/>
                </a:solidFill>
                <a:effectLst/>
                <a:latin typeface="Arial" panose="020B0604020202020204" pitchFamily="34" charset="0"/>
              </a:rPr>
              <a:t>BMI and other health factors such as heart disease show much weaker correlations with stroke. </a:t>
            </a:r>
          </a:p>
          <a:p>
            <a:pPr rtl="0">
              <a:spcBef>
                <a:spcPts val="0"/>
              </a:spcBef>
              <a:spcAft>
                <a:spcPts val="0"/>
              </a:spcAft>
            </a:pPr>
            <a:endParaRPr lang="en-US" sz="1400" dirty="0">
              <a:solidFill>
                <a:srgbClr val="000000"/>
              </a:solidFill>
              <a:latin typeface="Arial" panose="020B0604020202020204" pitchFamily="34" charset="0"/>
            </a:endParaRPr>
          </a:p>
          <a:p>
            <a:endParaRPr lang="en-ZA" dirty="0"/>
          </a:p>
        </p:txBody>
      </p:sp>
    </p:spTree>
    <p:extLst>
      <p:ext uri="{BB962C8B-B14F-4D97-AF65-F5344CB8AC3E}">
        <p14:creationId xmlns:p14="http://schemas.microsoft.com/office/powerpoint/2010/main" val="767029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AE23C-3CCC-4A80-9190-3AD0B68CAA1B}"/>
              </a:ext>
            </a:extLst>
          </p:cNvPr>
          <p:cNvSpPr>
            <a:spLocks noGrp="1"/>
          </p:cNvSpPr>
          <p:nvPr>
            <p:ph type="title"/>
          </p:nvPr>
        </p:nvSpPr>
        <p:spPr/>
        <p:txBody>
          <a:bodyPr/>
          <a:lstStyle/>
          <a:p>
            <a:r>
              <a:rPr lang="en-ZA" dirty="0"/>
              <a:t>Insights </a:t>
            </a:r>
          </a:p>
        </p:txBody>
      </p:sp>
      <p:sp>
        <p:nvSpPr>
          <p:cNvPr id="3" name="Content Placeholder 2">
            <a:extLst>
              <a:ext uri="{FF2B5EF4-FFF2-40B4-BE49-F238E27FC236}">
                <a16:creationId xmlns:a16="http://schemas.microsoft.com/office/drawing/2014/main" id="{9112966C-7214-442E-8AAB-4882FC1E9EED}"/>
              </a:ext>
            </a:extLst>
          </p:cNvPr>
          <p:cNvSpPr>
            <a:spLocks noGrp="1"/>
          </p:cNvSpPr>
          <p:nvPr>
            <p:ph idx="1"/>
          </p:nvPr>
        </p:nvSpPr>
        <p:spPr>
          <a:xfrm>
            <a:off x="767408" y="1844824"/>
            <a:ext cx="9144000" cy="4572001"/>
          </a:xfrm>
        </p:spPr>
        <p:txBody>
          <a:bodyPr>
            <a:normAutofit/>
          </a:bodyPr>
          <a:lstStyle/>
          <a:p>
            <a:pPr>
              <a:spcBef>
                <a:spcPts val="0"/>
              </a:spcBef>
            </a:pPr>
            <a:r>
              <a:rPr lang="en-US" sz="1600" b="1" dirty="0">
                <a:solidFill>
                  <a:srgbClr val="000000"/>
                </a:solidFill>
                <a:latin typeface="Calibri" panose="020F0502020204030204" pitchFamily="34" charset="0"/>
                <a:cs typeface="Calibri" panose="020F0502020204030204" pitchFamily="34" charset="0"/>
              </a:rPr>
              <a:t>For individuals using the app to assess their stroke risk:</a:t>
            </a:r>
            <a:endParaRPr lang="en-US" sz="1600" b="1" dirty="0">
              <a:latin typeface="Calibri" panose="020F0502020204030204" pitchFamily="34" charset="0"/>
              <a:cs typeface="Calibri" panose="020F0502020204030204" pitchFamily="34" charset="0"/>
            </a:endParaRPr>
          </a:p>
          <a:p>
            <a:pPr fontAlgn="base">
              <a:spcBef>
                <a:spcPts val="1200"/>
              </a:spcBef>
              <a:buFont typeface="Arial" panose="020B0604020202020204" pitchFamily="34" charset="0"/>
              <a:buChar char="•"/>
            </a:pPr>
            <a:r>
              <a:rPr lang="en-US" sz="1600" dirty="0">
                <a:solidFill>
                  <a:srgbClr val="000000"/>
                </a:solidFill>
                <a:latin typeface="Calibri" panose="020F0502020204030204" pitchFamily="34" charset="0"/>
                <a:cs typeface="Calibri" panose="020F0502020204030204" pitchFamily="34" charset="0"/>
              </a:rPr>
              <a:t>Age is the dominant risk factor, so older users should take immediate action to manage stroke risk factors.</a:t>
            </a:r>
          </a:p>
          <a:p>
            <a:pPr fontAlgn="base">
              <a:spcBef>
                <a:spcPts val="0"/>
              </a:spcBef>
              <a:buFont typeface="Arial" panose="020B0604020202020204" pitchFamily="34" charset="0"/>
              <a:buChar char="•"/>
            </a:pPr>
            <a:r>
              <a:rPr lang="en-US" sz="1600" dirty="0">
                <a:solidFill>
                  <a:srgbClr val="000000"/>
                </a:solidFill>
                <a:latin typeface="Calibri" panose="020F0502020204030204" pitchFamily="34" charset="0"/>
                <a:cs typeface="Calibri" panose="020F0502020204030204" pitchFamily="34" charset="0"/>
              </a:rPr>
              <a:t>Managing blood sugar levels is crucial, particularly for people with diabetes or prediabetes.</a:t>
            </a:r>
          </a:p>
          <a:p>
            <a:pPr fontAlgn="base">
              <a:spcBef>
                <a:spcPts val="0"/>
              </a:spcBef>
              <a:buFont typeface="Arial" panose="020B0604020202020204" pitchFamily="34" charset="0"/>
              <a:buChar char="•"/>
            </a:pPr>
            <a:r>
              <a:rPr lang="en-US" sz="1600" dirty="0">
                <a:solidFill>
                  <a:srgbClr val="000000"/>
                </a:solidFill>
                <a:latin typeface="Calibri" panose="020F0502020204030204" pitchFamily="34" charset="0"/>
                <a:cs typeface="Calibri" panose="020F0502020204030204" pitchFamily="34" charset="0"/>
              </a:rPr>
              <a:t>While</a:t>
            </a:r>
            <a:r>
              <a:rPr lang="en-US" sz="1600" b="1" dirty="0">
                <a:solidFill>
                  <a:srgbClr val="000000"/>
                </a:solidFill>
                <a:latin typeface="Calibri" panose="020F0502020204030204" pitchFamily="34" charset="0"/>
                <a:cs typeface="Calibri" panose="020F0502020204030204" pitchFamily="34" charset="0"/>
              </a:rPr>
              <a:t> </a:t>
            </a:r>
            <a:r>
              <a:rPr lang="en-US" sz="1600" dirty="0">
                <a:solidFill>
                  <a:srgbClr val="000000"/>
                </a:solidFill>
                <a:latin typeface="Calibri" panose="020F0502020204030204" pitchFamily="34" charset="0"/>
                <a:cs typeface="Calibri" panose="020F0502020204030204" pitchFamily="34" charset="0"/>
              </a:rPr>
              <a:t>BMI does not strongly influence stroke risk in isolation, it may still contribute to overall health complications that can raise stroke risk.</a:t>
            </a:r>
          </a:p>
          <a:p>
            <a:pPr fontAlgn="base">
              <a:spcBef>
                <a:spcPts val="0"/>
              </a:spcBef>
              <a:spcAft>
                <a:spcPts val="1200"/>
              </a:spcAft>
              <a:buFont typeface="Arial" panose="020B0604020202020204" pitchFamily="34" charset="0"/>
              <a:buChar char="•"/>
            </a:pPr>
            <a:r>
              <a:rPr lang="en-US" sz="1600" dirty="0">
                <a:solidFill>
                  <a:srgbClr val="000000"/>
                </a:solidFill>
                <a:latin typeface="Calibri" panose="020F0502020204030204" pitchFamily="34" charset="0"/>
                <a:cs typeface="Calibri" panose="020F0502020204030204" pitchFamily="34" charset="0"/>
              </a:rPr>
              <a:t>Users with hypertension or heart disease should not disregard these conditions, even though their direct correlation to stroke is weak in this dataset.</a:t>
            </a:r>
          </a:p>
          <a:p>
            <a:pPr>
              <a:spcBef>
                <a:spcPts val="1200"/>
              </a:spcBef>
              <a:spcAft>
                <a:spcPts val="1200"/>
              </a:spcAft>
            </a:pPr>
            <a:r>
              <a:rPr lang="en-US" sz="1600" b="1" dirty="0">
                <a:solidFill>
                  <a:srgbClr val="000000"/>
                </a:solidFill>
                <a:latin typeface="Calibri" panose="020F0502020204030204" pitchFamily="34" charset="0"/>
                <a:cs typeface="Calibri" panose="020F0502020204030204" pitchFamily="34" charset="0"/>
              </a:rPr>
              <a:t>For healthcare providers or analysts using the app:</a:t>
            </a:r>
            <a:endParaRPr lang="en-US" sz="1600" b="1" dirty="0">
              <a:latin typeface="Calibri" panose="020F0502020204030204" pitchFamily="34" charset="0"/>
              <a:cs typeface="Calibri" panose="020F0502020204030204" pitchFamily="34" charset="0"/>
            </a:endParaRPr>
          </a:p>
          <a:p>
            <a:pPr fontAlgn="base">
              <a:spcBef>
                <a:spcPts val="1200"/>
              </a:spcBef>
              <a:buFont typeface="Arial" panose="020B0604020202020204" pitchFamily="34" charset="0"/>
              <a:buChar char="•"/>
            </a:pPr>
            <a:r>
              <a:rPr lang="en-US" sz="1600" dirty="0">
                <a:solidFill>
                  <a:srgbClr val="000000"/>
                </a:solidFill>
                <a:latin typeface="Calibri" panose="020F0502020204030204" pitchFamily="34" charset="0"/>
                <a:cs typeface="Calibri" panose="020F0502020204030204" pitchFamily="34" charset="0"/>
              </a:rPr>
              <a:t>Age should be given high importance when developing predictive models for stroke risk.</a:t>
            </a:r>
          </a:p>
          <a:p>
            <a:pPr fontAlgn="base">
              <a:spcBef>
                <a:spcPts val="0"/>
              </a:spcBef>
              <a:spcAft>
                <a:spcPts val="1200"/>
              </a:spcAft>
              <a:buFont typeface="Arial" panose="020B0604020202020204" pitchFamily="34" charset="0"/>
              <a:buChar char="•"/>
            </a:pPr>
            <a:r>
              <a:rPr lang="en-US" sz="1600" dirty="0">
                <a:solidFill>
                  <a:srgbClr val="000000"/>
                </a:solidFill>
                <a:latin typeface="Calibri" panose="020F0502020204030204" pitchFamily="34" charset="0"/>
                <a:cs typeface="Calibri" panose="020F0502020204030204" pitchFamily="34" charset="0"/>
              </a:rPr>
              <a:t>A multifactorial approach is needed to assess stroke risk comprehensively, considering how different factors like age, glucose levels, and cardiovascular health interact with one another.</a:t>
            </a:r>
          </a:p>
          <a:p>
            <a:pPr fontAlgn="base">
              <a:spcBef>
                <a:spcPts val="0"/>
              </a:spcBef>
              <a:spcAft>
                <a:spcPts val="1200"/>
              </a:spcAft>
              <a:buFont typeface="Arial" panose="020B0604020202020204" pitchFamily="34" charset="0"/>
              <a:buChar char="•"/>
            </a:pPr>
            <a:endParaRPr lang="en-US" dirty="0">
              <a:solidFill>
                <a:srgbClr val="000000"/>
              </a:solidFill>
              <a:latin typeface="Calibri" panose="020F0502020204030204" pitchFamily="34" charset="0"/>
              <a:cs typeface="Calibri" panose="020F0502020204030204" pitchFamily="34" charset="0"/>
            </a:endParaRPr>
          </a:p>
          <a:p>
            <a:endParaRPr lang="en-ZA" dirty="0"/>
          </a:p>
        </p:txBody>
      </p:sp>
    </p:spTree>
    <p:extLst>
      <p:ext uri="{BB962C8B-B14F-4D97-AF65-F5344CB8AC3E}">
        <p14:creationId xmlns:p14="http://schemas.microsoft.com/office/powerpoint/2010/main" val="1029671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edical Design 16x9">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41.potx" id="{D7485564-6666-4DDB-B0D3-55F6E694D6E5}" vid="{6E950D30-6FC6-4411-BCFF-468AD9ECA7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Medical design presentation (widescreen)</Template>
  <TotalTime>238</TotalTime>
  <Words>926</Words>
  <Application>Microsoft Office PowerPoint</Application>
  <PresentationFormat>Widescreen</PresentationFormat>
  <Paragraphs>58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Franklin Gothic Medium</vt:lpstr>
      <vt:lpstr>Medical Design 16x9</vt:lpstr>
      <vt:lpstr>BIA 712</vt:lpstr>
      <vt:lpstr>The Impact of Hypertension, Heart Disease, and Lifestyle Factors on Stroke Risk: A Comprehensive Analysis of Demographic and Health Data</vt:lpstr>
      <vt:lpstr>Introduction to the dataset and the purpose of your analysis</vt:lpstr>
      <vt:lpstr>Streamlit Application – Welcome Page </vt:lpstr>
      <vt:lpstr>Dataset Overview</vt:lpstr>
      <vt:lpstr>Demographic Factors</vt:lpstr>
      <vt:lpstr>Health Factors</vt:lpstr>
      <vt:lpstr>Health Factors</vt:lpstr>
      <vt:lpstr>Lifestyle Factors</vt:lpstr>
      <vt:lpstr>Correlation Analysis</vt:lpstr>
      <vt:lpstr>Correlation Matrix</vt:lpstr>
      <vt:lpstr>Insights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BIA 712</dc:title>
  <dc:creator>onam nqwazi</dc:creator>
  <cp:lastModifiedBy>Yolisa  Velebayi</cp:lastModifiedBy>
  <cp:revision>8</cp:revision>
  <dcterms:created xsi:type="dcterms:W3CDTF">2024-09-16T11:14:39Z</dcterms:created>
  <dcterms:modified xsi:type="dcterms:W3CDTF">2026-10-18T21:23:52Z</dcterms:modified>
</cp:coreProperties>
</file>